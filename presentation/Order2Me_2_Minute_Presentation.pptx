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F845-98B6-CE99-3105-9DC96301D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80CDD-C2C7-0F43-38F3-9341D588E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58A48-265E-92B8-36AF-91C81DFC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295A6-498C-7A44-4ED7-233C1024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587AA-7C07-2044-5353-E0F8BEC7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7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D8DB-0753-CC70-FD20-90008486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A052C-02FA-738D-FB15-7B3626331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5CCF-CCC4-5D11-9685-83755BC8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4A0DA-5078-07B2-7D35-28EC918D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FF11-5B3F-9C77-30CB-4AFBE943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8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391B-A6E8-FE6C-9B40-AE8D8E15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E1CA7-C622-14C5-D6F6-8D90DB345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01AC0-A722-F471-7062-D56EA399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B0F11-3BF4-63C0-CC12-F360521D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AB63-4C30-66B7-D1C6-059A3F7E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7835A-1670-71D0-09F7-97EA7544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BD54-26CD-80D8-4BA7-09C717312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F8884-87A4-CA95-E2C3-14D14E85A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B9AC2-86DF-D5E0-9380-E2170C75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15F3E-1565-9208-6C05-B7FE8F34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5FBC3-6F25-77E9-B802-E736E961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6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C774-305C-5162-C333-3DDBF9EC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C768-D9AA-2E69-70AF-219F697F3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963ED-B309-FB8C-51B6-C4F054B86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74A4B-FC2F-075F-992F-8F9C19068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E5857-0113-DC32-1C53-9E682D530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264E7-3D4D-8177-70C6-17B5BDFF6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7F681F-A8E3-1A61-A388-16F17981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4E8B4-FF02-CB4F-84F7-D8634033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5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51D0-E5C0-85C3-3B29-75171864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8179D3-3EC0-D475-5FF6-81E64413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BB631-3D73-B2F5-4FB2-12425D15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7A4CF-54E6-44FB-1282-54965273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F87296-B78F-2B5E-1402-D2853B2D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495C3-64CA-D6A6-EE72-1A9052A92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A7C46-986E-5EDD-918B-541D31E3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8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64A2-963B-1F2F-A31C-3B3F3921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CD5B-089E-7F81-013B-B0E6CACBE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A9ABD-3174-2D83-C7CF-2EB94092E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B2F68-445C-EF1A-C6E3-4AC83B89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1BBA2-2A81-1E94-B161-2346D4A5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EE11C-32AE-EC23-B84C-643B3A97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3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2336-1FF3-EDF6-A411-77BA065E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5DDF08-A8E6-80FE-60AB-5C99605C0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13F65-8B59-6674-182D-414E69DE2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B3B93-2F9E-BA2D-74C3-52410A62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A06EC-DB44-98FC-CE1C-10502E50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80A42-B108-901D-5B73-576A7D83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3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CD42-26A8-AC4E-D87F-31B891E6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E20B4-F3FA-86DC-7AFA-273873A86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417DC-2A5B-397A-1CD7-7EA0A9539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6F4D9-21C2-0542-9EEE-CAE8A03C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FFBCF-13C7-7FA3-3848-CD17E4BC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8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A0D743-51A2-E141-86A9-030B06DAB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9730C-64F8-46EA-3413-1D076F77B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670D6-5750-4D0C-FE1A-B329AA43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E530C-9AFF-5957-8737-2574FED8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EBD5-EFA6-188D-DEF1-E05D3331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3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9103-F394-8188-BC73-6E257DBF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AD0D0-FC05-F094-749D-B3C1B56E5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BA521-2343-DD71-D439-B3FA1BAB3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D03E-AE36-47D8-A665-1CF0470591B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6969-9242-D568-0F2F-13ECFC9E7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B2812-0B7A-9DB9-F70F-8087C7CC6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DF935-DFF5-449E-AF59-2C0AB46AA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4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155368-AB14-EE7A-FEEC-F7513926EA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B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B1A977-D6D7-0638-0C0C-238BC86E2393}"/>
              </a:ext>
            </a:extLst>
          </p:cNvPr>
          <p:cNvSpPr/>
          <p:nvPr/>
        </p:nvSpPr>
        <p:spPr>
          <a:xfrm>
            <a:off x="8813800" y="-1524000"/>
            <a:ext cx="4953000" cy="4953000"/>
          </a:xfrm>
          <a:prstGeom prst="ellipse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6A0328-1F13-590E-1C50-0E901F55B3EB}"/>
              </a:ext>
            </a:extLst>
          </p:cNvPr>
          <p:cNvSpPr/>
          <p:nvPr/>
        </p:nvSpPr>
        <p:spPr>
          <a:xfrm>
            <a:off x="10134600" y="4508500"/>
            <a:ext cx="2413000" cy="2413000"/>
          </a:xfrm>
          <a:prstGeom prst="ellipse">
            <a:avLst/>
          </a:prstGeom>
          <a:solidFill>
            <a:srgbClr val="2F6BFF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7CC1A9-8B1B-F67E-D6E2-C7CBF98DD02D}"/>
              </a:ext>
            </a:extLst>
          </p:cNvPr>
          <p:cNvSpPr/>
          <p:nvPr/>
        </p:nvSpPr>
        <p:spPr>
          <a:xfrm>
            <a:off x="736600" y="685800"/>
            <a:ext cx="787400" cy="63500"/>
          </a:xfrm>
          <a:prstGeom prst="roundRect">
            <a:avLst/>
          </a:prstGeom>
          <a:solidFill>
            <a:srgbClr val="FF7A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7A0A0F-353F-4005-0106-DBF34A678150}"/>
              </a:ext>
            </a:extLst>
          </p:cNvPr>
          <p:cNvSpPr/>
          <p:nvPr/>
        </p:nvSpPr>
        <p:spPr>
          <a:xfrm>
            <a:off x="736600" y="990600"/>
            <a:ext cx="2413000" cy="317500"/>
          </a:xfrm>
          <a:prstGeom prst="roundRect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08153-30A8-C889-86F3-8D6174C2DC7D}"/>
              </a:ext>
            </a:extLst>
          </p:cNvPr>
          <p:cNvSpPr txBox="1"/>
          <p:nvPr/>
        </p:nvSpPr>
        <p:spPr>
          <a:xfrm>
            <a:off x="838200" y="1028700"/>
            <a:ext cx="2209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BDD0EC"/>
                </a:solidFill>
                <a:latin typeface="Pyidaungsu" panose="020B0502040204020203" pitchFamily="34" charset="0"/>
              </a:rPr>
              <a:t>UNIVERSITY EDITION  |  v1.0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D6149-9A25-17CE-910E-912D6530D08D}"/>
              </a:ext>
            </a:extLst>
          </p:cNvPr>
          <p:cNvSpPr txBox="1"/>
          <p:nvPr/>
        </p:nvSpPr>
        <p:spPr>
          <a:xfrm>
            <a:off x="736600" y="1841500"/>
            <a:ext cx="647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ptos Display" panose="020B0004020202020204" pitchFamily="34" charset="0"/>
              </a:rPr>
              <a:t>Order2Me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5DF91-0252-569A-28A6-3C8F8D01182D}"/>
              </a:ext>
            </a:extLst>
          </p:cNvPr>
          <p:cNvSpPr txBox="1"/>
          <p:nvPr/>
        </p:nvSpPr>
        <p:spPr>
          <a:xfrm>
            <a:off x="762000" y="2819400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6D94FF"/>
                </a:solidFill>
                <a:latin typeface="Pyidaungsu" panose="020B0502040204020203" pitchFamily="34" charset="0"/>
              </a:rPr>
              <a:t>University Canteen Ordering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3795BB-0647-1B1E-60C7-70DEA5D73E30}"/>
              </a:ext>
            </a:extLst>
          </p:cNvPr>
          <p:cNvSpPr txBox="1"/>
          <p:nvPr/>
        </p:nvSpPr>
        <p:spPr>
          <a:xfrm>
            <a:off x="762000" y="3556000"/>
            <a:ext cx="660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DCE7F5"/>
                </a:solidFill>
                <a:latin typeface="Aptos" panose="020F0502020204030204" pitchFamily="34" charset="0"/>
              </a:rPr>
              <a:t>A web-based ordering and delivery experience
connecting hostel students with the campus canteen.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09B4D0-7F04-FBCF-5F95-93A6B2C89A1A}"/>
              </a:ext>
            </a:extLst>
          </p:cNvPr>
          <p:cNvSpPr/>
          <p:nvPr/>
        </p:nvSpPr>
        <p:spPr>
          <a:xfrm>
            <a:off x="762000" y="5168900"/>
            <a:ext cx="1371600" cy="317500"/>
          </a:xfrm>
          <a:prstGeom prst="roundRect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457F3-5A76-3554-F42E-D79F5FE0A5F7}"/>
              </a:ext>
            </a:extLst>
          </p:cNvPr>
          <p:cNvSpPr txBox="1"/>
          <p:nvPr/>
        </p:nvSpPr>
        <p:spPr>
          <a:xfrm>
            <a:off x="863600" y="52070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Pyidaungsu" panose="020B0502040204020203" pitchFamily="34" charset="0"/>
              </a:rPr>
              <a:t>CUSTOMER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6E67AE-DD01-EBC4-E96D-B20CE90305D7}"/>
              </a:ext>
            </a:extLst>
          </p:cNvPr>
          <p:cNvSpPr/>
          <p:nvPr/>
        </p:nvSpPr>
        <p:spPr>
          <a:xfrm>
            <a:off x="2247900" y="5168900"/>
            <a:ext cx="1600200" cy="317500"/>
          </a:xfrm>
          <a:prstGeom prst="roundRect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CDD06-81F3-DBC9-1AB9-FA85B8AF1955}"/>
              </a:ext>
            </a:extLst>
          </p:cNvPr>
          <p:cNvSpPr txBox="1"/>
          <p:nvPr/>
        </p:nvSpPr>
        <p:spPr>
          <a:xfrm>
            <a:off x="2349500" y="52070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Pyidaungsu" panose="020B0502040204020203" pitchFamily="34" charset="0"/>
              </a:rPr>
              <a:t>SHOP OWNER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988EC0-EDF3-0780-A838-C6AFFF9F3326}"/>
              </a:ext>
            </a:extLst>
          </p:cNvPr>
          <p:cNvSpPr/>
          <p:nvPr/>
        </p:nvSpPr>
        <p:spPr>
          <a:xfrm>
            <a:off x="3962400" y="5168900"/>
            <a:ext cx="1168400" cy="317500"/>
          </a:xfrm>
          <a:prstGeom prst="roundRect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B8F82D-06B6-9BAD-A603-D54C58CEEA74}"/>
              </a:ext>
            </a:extLst>
          </p:cNvPr>
          <p:cNvSpPr txBox="1"/>
          <p:nvPr/>
        </p:nvSpPr>
        <p:spPr>
          <a:xfrm>
            <a:off x="4064000" y="5207000"/>
            <a:ext cx="96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Pyidaungsu" panose="020B0502040204020203" pitchFamily="34" charset="0"/>
              </a:rPr>
              <a:t>ADMIN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06FE51-A33E-BD0C-6A80-B11888DA5989}"/>
              </a:ext>
            </a:extLst>
          </p:cNvPr>
          <p:cNvSpPr/>
          <p:nvPr/>
        </p:nvSpPr>
        <p:spPr>
          <a:xfrm>
            <a:off x="8445500" y="1244600"/>
            <a:ext cx="3048000" cy="3048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3E7FD4-DBA0-BF5D-992C-A508BF19A3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1485900"/>
            <a:ext cx="2565400" cy="2565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695DE3E-9B0F-A456-ACB6-058DF007DC05}"/>
              </a:ext>
            </a:extLst>
          </p:cNvPr>
          <p:cNvSpPr txBox="1"/>
          <p:nvPr/>
        </p:nvSpPr>
        <p:spPr>
          <a:xfrm>
            <a:off x="8623300" y="4368800"/>
            <a:ext cx="269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ORDER  |  TRACK  |  DELIVER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A0B9AE-BE8E-8D4F-0287-D92DDE4A046C}"/>
              </a:ext>
            </a:extLst>
          </p:cNvPr>
          <p:cNvSpPr txBox="1"/>
          <p:nvPr/>
        </p:nvSpPr>
        <p:spPr>
          <a:xfrm>
            <a:off x="11303000" y="6388100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 b="1">
                <a:solidFill>
                  <a:srgbClr val="9DB4D4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7110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C7FD63-9FCD-3298-4325-4D74C81702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F0FD23-02F7-7CEF-53C1-A6CFCA4EC561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FF7A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CA263A-F1AD-00F7-C634-34BCCA9D7931}"/>
              </a:ext>
            </a:extLst>
          </p:cNvPr>
          <p:cNvSpPr/>
          <p:nvPr/>
        </p:nvSpPr>
        <p:spPr>
          <a:xfrm>
            <a:off x="711200" y="558800"/>
            <a:ext cx="1498600" cy="317500"/>
          </a:xfrm>
          <a:prstGeom prst="roundRect">
            <a:avLst/>
          </a:prstGeom>
          <a:solidFill>
            <a:srgbClr val="FFF0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9B288-1B42-BE1F-A588-B3F8E26A6285}"/>
              </a:ext>
            </a:extLst>
          </p:cNvPr>
          <p:cNvSpPr txBox="1"/>
          <p:nvPr/>
        </p:nvSpPr>
        <p:spPr>
          <a:xfrm>
            <a:off x="812800" y="596900"/>
            <a:ext cx="129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7A1A"/>
                </a:solidFill>
                <a:latin typeface="Pyidaungsu" panose="020B0502040204020203" pitchFamily="34" charset="0"/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CD75C-8C67-6CC7-5E85-8D6E64BD336B}"/>
              </a:ext>
            </a:extLst>
          </p:cNvPr>
          <p:cNvSpPr txBox="1"/>
          <p:nvPr/>
        </p:nvSpPr>
        <p:spPr>
          <a:xfrm>
            <a:off x="711200" y="1155700"/>
            <a:ext cx="596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7233A"/>
                </a:solidFill>
                <a:latin typeface="Aptos Display" panose="020B0004020202020204" pitchFamily="34" charset="0"/>
              </a:rPr>
              <a:t>Why we built 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FC7B9-0CBF-AE1A-2C44-427CBEA53435}"/>
              </a:ext>
            </a:extLst>
          </p:cNvPr>
          <p:cNvSpPr txBox="1"/>
          <p:nvPr/>
        </p:nvSpPr>
        <p:spPr>
          <a:xfrm>
            <a:off x="711200" y="1968500"/>
            <a:ext cx="5588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>
                <a:solidFill>
                  <a:srgbClr val="081B33"/>
                </a:solidFill>
                <a:latin typeface="Aptos Display" panose="020B0004020202020204" pitchFamily="34" charset="0"/>
              </a:rPr>
              <a:t>A phone call should not be
the ordering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9C541-04C3-ED04-24C8-5D4CFBC0F071}"/>
              </a:ext>
            </a:extLst>
          </p:cNvPr>
          <p:cNvSpPr txBox="1"/>
          <p:nvPr/>
        </p:nvSpPr>
        <p:spPr>
          <a:xfrm>
            <a:off x="736600" y="3657600"/>
            <a:ext cx="5207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667085"/>
                </a:solidFill>
                <a:latin typeface="Aptos" panose="020B0004020202020204" pitchFamily="34" charset="0"/>
              </a:rPr>
              <a:t>Traditional phone ordering is slow, easy to misrecord, and difficult to track for both students and canteen staff.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27622-2448-B7CE-B7E3-7806C11BCFE5}"/>
              </a:ext>
            </a:extLst>
          </p:cNvPr>
          <p:cNvSpPr txBox="1"/>
          <p:nvPr/>
        </p:nvSpPr>
        <p:spPr>
          <a:xfrm>
            <a:off x="736600" y="4978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67085"/>
                </a:solidFill>
                <a:latin typeface="Aptos" panose="020B0004020202020204" pitchFamily="34" charset="0"/>
              </a:rPr>
              <a:t>CURRENT 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7D2FE-BE6E-6503-BE42-E185EDAB4DFD}"/>
              </a:ext>
            </a:extLst>
          </p:cNvPr>
          <p:cNvSpPr txBox="1"/>
          <p:nvPr/>
        </p:nvSpPr>
        <p:spPr>
          <a:xfrm>
            <a:off x="736600" y="53086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7233A"/>
                </a:solidFill>
                <a:latin typeface="Aptos" panose="020B0004020202020204" pitchFamily="34" charset="0"/>
              </a:rPr>
              <a:t>Call  &gt;  Explain  &gt;  Write down  &gt;  Guess status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F33C93-CC00-BCA1-C201-25E52226318E}"/>
              </a:ext>
            </a:extLst>
          </p:cNvPr>
          <p:cNvSpPr/>
          <p:nvPr/>
        </p:nvSpPr>
        <p:spPr>
          <a:xfrm>
            <a:off x="6794500" y="990600"/>
            <a:ext cx="457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8D3473-940A-8313-AD00-0C84A6C8BAC8}"/>
              </a:ext>
            </a:extLst>
          </p:cNvPr>
          <p:cNvSpPr/>
          <p:nvPr/>
        </p:nvSpPr>
        <p:spPr>
          <a:xfrm>
            <a:off x="7061200" y="1320800"/>
            <a:ext cx="584200" cy="584200"/>
          </a:xfrm>
          <a:prstGeom prst="ellipse">
            <a:avLst/>
          </a:prstGeom>
          <a:solidFill>
            <a:srgbClr val="EA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0BFD56-D103-71A1-46C7-CB3701C7A31C}"/>
              </a:ext>
            </a:extLst>
          </p:cNvPr>
          <p:cNvSpPr txBox="1"/>
          <p:nvPr/>
        </p:nvSpPr>
        <p:spPr>
          <a:xfrm>
            <a:off x="7175500" y="1447800"/>
            <a:ext cx="355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2F6B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22B7F5-B8C3-89FA-7FB3-02E1A4F22B34}"/>
              </a:ext>
            </a:extLst>
          </p:cNvPr>
          <p:cNvSpPr txBox="1"/>
          <p:nvPr/>
        </p:nvSpPr>
        <p:spPr>
          <a:xfrm>
            <a:off x="7874000" y="1244600"/>
            <a:ext cx="311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7233A"/>
                </a:solidFill>
                <a:latin typeface="Aptos Display" panose="020B0004020202020204" pitchFamily="34" charset="0"/>
              </a:rPr>
              <a:t>No clear menu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F46AE-7ACF-6CE7-7015-205783AE4E0C}"/>
              </a:ext>
            </a:extLst>
          </p:cNvPr>
          <p:cNvSpPr txBox="1"/>
          <p:nvPr/>
        </p:nvSpPr>
        <p:spPr>
          <a:xfrm>
            <a:off x="7874000" y="16129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67085"/>
                </a:solidFill>
                <a:latin typeface="Pyidaungsu" panose="020B0502040204020203" pitchFamily="34" charset="0"/>
              </a:rPr>
              <a:t>Students cannot see the complete menu and prices in one place.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1ACAF6-D0D9-006D-2EF8-C8D6682CB079}"/>
              </a:ext>
            </a:extLst>
          </p:cNvPr>
          <p:cNvSpPr/>
          <p:nvPr/>
        </p:nvSpPr>
        <p:spPr>
          <a:xfrm>
            <a:off x="6794500" y="2578100"/>
            <a:ext cx="457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C5838E9-3862-8911-CFEB-237757966283}"/>
              </a:ext>
            </a:extLst>
          </p:cNvPr>
          <p:cNvSpPr/>
          <p:nvPr/>
        </p:nvSpPr>
        <p:spPr>
          <a:xfrm>
            <a:off x="7061200" y="2908300"/>
            <a:ext cx="584200" cy="584200"/>
          </a:xfrm>
          <a:prstGeom prst="ellipse">
            <a:avLst/>
          </a:prstGeom>
          <a:solidFill>
            <a:srgbClr val="FFF0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FB6626-0CFB-6A9B-7635-C867B4343007}"/>
              </a:ext>
            </a:extLst>
          </p:cNvPr>
          <p:cNvSpPr txBox="1"/>
          <p:nvPr/>
        </p:nvSpPr>
        <p:spPr>
          <a:xfrm>
            <a:off x="7175500" y="3035300"/>
            <a:ext cx="355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7A1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0644B2-0976-6EE1-565F-0C1776F570CA}"/>
              </a:ext>
            </a:extLst>
          </p:cNvPr>
          <p:cNvSpPr txBox="1"/>
          <p:nvPr/>
        </p:nvSpPr>
        <p:spPr>
          <a:xfrm>
            <a:off x="7874000" y="2832100"/>
            <a:ext cx="311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7233A"/>
                </a:solidFill>
                <a:latin typeface="Aptos Display" panose="020B0004020202020204" pitchFamily="34" charset="0"/>
              </a:rPr>
              <a:t>Orders can be missed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9AA011-0627-7273-7796-5D6A6D40991C}"/>
              </a:ext>
            </a:extLst>
          </p:cNvPr>
          <p:cNvSpPr txBox="1"/>
          <p:nvPr/>
        </p:nvSpPr>
        <p:spPr>
          <a:xfrm>
            <a:off x="7874000" y="32004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67085"/>
                </a:solidFill>
                <a:latin typeface="Pyidaungsu" panose="020B0502040204020203" pitchFamily="34" charset="0"/>
              </a:rPr>
              <a:t>Verbal details can be missed or recorded incorrectly.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D550FD-0C63-2C48-5F6D-6B40C67EBCEC}"/>
              </a:ext>
            </a:extLst>
          </p:cNvPr>
          <p:cNvSpPr/>
          <p:nvPr/>
        </p:nvSpPr>
        <p:spPr>
          <a:xfrm>
            <a:off x="6794500" y="4165600"/>
            <a:ext cx="457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243EA9-B97A-D60F-3792-1B9E7F76B823}"/>
              </a:ext>
            </a:extLst>
          </p:cNvPr>
          <p:cNvSpPr/>
          <p:nvPr/>
        </p:nvSpPr>
        <p:spPr>
          <a:xfrm>
            <a:off x="7061200" y="4495800"/>
            <a:ext cx="584200" cy="584200"/>
          </a:xfrm>
          <a:prstGeom prst="ellipse">
            <a:avLst/>
          </a:prstGeom>
          <a:solidFill>
            <a:srgbClr val="EA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3846C0-DC53-B070-49C2-190BB908C9DF}"/>
              </a:ext>
            </a:extLst>
          </p:cNvPr>
          <p:cNvSpPr txBox="1"/>
          <p:nvPr/>
        </p:nvSpPr>
        <p:spPr>
          <a:xfrm>
            <a:off x="7175500" y="4622800"/>
            <a:ext cx="355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2F6B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4698C7-9CFF-0036-4775-395E4974FD7A}"/>
              </a:ext>
            </a:extLst>
          </p:cNvPr>
          <p:cNvSpPr txBox="1"/>
          <p:nvPr/>
        </p:nvSpPr>
        <p:spPr>
          <a:xfrm>
            <a:off x="7874000" y="4419600"/>
            <a:ext cx="311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7233A"/>
                </a:solidFill>
                <a:latin typeface="Aptos Display" panose="020B0004020202020204" pitchFamily="34" charset="0"/>
              </a:rPr>
              <a:t>No status visibility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09041B-5FC3-3659-6B8A-0D6232FD054F}"/>
              </a:ext>
            </a:extLst>
          </p:cNvPr>
          <p:cNvSpPr txBox="1"/>
          <p:nvPr/>
        </p:nvSpPr>
        <p:spPr>
          <a:xfrm>
            <a:off x="7874000" y="47879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67085"/>
                </a:solidFill>
                <a:latin typeface="Pyidaungsu" panose="020B0502040204020203" pitchFamily="34" charset="0"/>
              </a:rPr>
              <a:t>Students cannot clearly follow the progress of an order.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6462E4-97D1-8022-5551-977C3BE18F0B}"/>
              </a:ext>
            </a:extLst>
          </p:cNvPr>
          <p:cNvSpPr txBox="1"/>
          <p:nvPr/>
        </p:nvSpPr>
        <p:spPr>
          <a:xfrm>
            <a:off x="11303000" y="6388100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 b="1">
                <a:solidFill>
                  <a:srgbClr val="667085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0704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44D762-96C6-B6EE-FE53-21A7B14A24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B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88F5E1-60AD-74C9-BEEE-602F3144908D}"/>
              </a:ext>
            </a:extLst>
          </p:cNvPr>
          <p:cNvSpPr/>
          <p:nvPr/>
        </p:nvSpPr>
        <p:spPr>
          <a:xfrm>
            <a:off x="711200" y="533400"/>
            <a:ext cx="1574800" cy="317500"/>
          </a:xfrm>
          <a:prstGeom prst="roundRect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A03FE-6B40-B60A-DE24-28304DB9B832}"/>
              </a:ext>
            </a:extLst>
          </p:cNvPr>
          <p:cNvSpPr txBox="1"/>
          <p:nvPr/>
        </p:nvSpPr>
        <p:spPr>
          <a:xfrm>
            <a:off x="812800" y="571500"/>
            <a:ext cx="1371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D94FF"/>
                </a:solidFill>
                <a:latin typeface="Pyidaungsu" panose="020B0502040204020203" pitchFamily="34" charset="0"/>
              </a:rPr>
              <a:t>THE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2B600-84B7-5EDF-F94F-9CB502E08BDE}"/>
              </a:ext>
            </a:extLst>
          </p:cNvPr>
          <p:cNvSpPr txBox="1"/>
          <p:nvPr/>
        </p:nvSpPr>
        <p:spPr>
          <a:xfrm>
            <a:off x="711200" y="1104900"/>
            <a:ext cx="698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One simple digital journey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A3487-6939-C2E6-ECCC-29E889EF174B}"/>
              </a:ext>
            </a:extLst>
          </p:cNvPr>
          <p:cNvSpPr txBox="1"/>
          <p:nvPr/>
        </p:nvSpPr>
        <p:spPr>
          <a:xfrm>
            <a:off x="711200" y="1739900"/>
            <a:ext cx="914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B9CBE3"/>
                </a:solidFill>
                <a:latin typeface="Aptos" panose="020B0004020202020204" pitchFamily="34" charset="0"/>
              </a:rPr>
              <a:t>From placing an order to hostel delivery - clear, trackable, and connected.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D7EA96-DD1D-E3AA-6480-8414DF8B01F5}"/>
              </a:ext>
            </a:extLst>
          </p:cNvPr>
          <p:cNvCxnSpPr/>
          <p:nvPr/>
        </p:nvCxnSpPr>
        <p:spPr>
          <a:xfrm>
            <a:off x="2222500" y="3149600"/>
            <a:ext cx="711200" cy="0"/>
          </a:xfrm>
          <a:prstGeom prst="line">
            <a:avLst/>
          </a:prstGeom>
          <a:ln w="27940">
            <a:solidFill>
              <a:srgbClr val="2F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E5216BB-53A4-944E-80FE-0513B9A04EA8}"/>
              </a:ext>
            </a:extLst>
          </p:cNvPr>
          <p:cNvSpPr/>
          <p:nvPr/>
        </p:nvSpPr>
        <p:spPr>
          <a:xfrm>
            <a:off x="723900" y="2578100"/>
            <a:ext cx="1143000" cy="1143000"/>
          </a:xfrm>
          <a:prstGeom prst="ellipse">
            <a:avLst/>
          </a:prstGeom>
          <a:solidFill>
            <a:srgbClr val="2F6B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57007-1465-6A17-6BA5-04124AA93418}"/>
              </a:ext>
            </a:extLst>
          </p:cNvPr>
          <p:cNvSpPr txBox="1"/>
          <p:nvPr/>
        </p:nvSpPr>
        <p:spPr>
          <a:xfrm>
            <a:off x="1041400" y="28067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C20F9-C0C3-84B1-5255-C3A3EBB510B4}"/>
              </a:ext>
            </a:extLst>
          </p:cNvPr>
          <p:cNvSpPr txBox="1"/>
          <p:nvPr/>
        </p:nvSpPr>
        <p:spPr>
          <a:xfrm>
            <a:off x="596900" y="3898900"/>
            <a:ext cx="139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yidaungsu" panose="020B0502040204020203" pitchFamily="34" charset="0"/>
              </a:rPr>
              <a:t>Browse
Menu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9A7A55-484F-2697-D8CD-2317487027CC}"/>
              </a:ext>
            </a:extLst>
          </p:cNvPr>
          <p:cNvCxnSpPr/>
          <p:nvPr/>
        </p:nvCxnSpPr>
        <p:spPr>
          <a:xfrm>
            <a:off x="4470400" y="3149600"/>
            <a:ext cx="711200" cy="0"/>
          </a:xfrm>
          <a:prstGeom prst="line">
            <a:avLst/>
          </a:prstGeom>
          <a:ln w="27940">
            <a:solidFill>
              <a:srgbClr val="2F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ABD0400-717A-84E9-BE42-73293F9A8609}"/>
              </a:ext>
            </a:extLst>
          </p:cNvPr>
          <p:cNvSpPr/>
          <p:nvPr/>
        </p:nvSpPr>
        <p:spPr>
          <a:xfrm>
            <a:off x="2971800" y="2578100"/>
            <a:ext cx="1143000" cy="1143000"/>
          </a:xfrm>
          <a:prstGeom prst="ellipse">
            <a:avLst/>
          </a:prstGeom>
          <a:solidFill>
            <a:srgbClr val="2F6B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70A5B-7F0B-3D01-36ED-66D39B456998}"/>
              </a:ext>
            </a:extLst>
          </p:cNvPr>
          <p:cNvSpPr txBox="1"/>
          <p:nvPr/>
        </p:nvSpPr>
        <p:spPr>
          <a:xfrm>
            <a:off x="3289300" y="28067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213301-29AB-E43E-6C7C-2B3C720AA092}"/>
              </a:ext>
            </a:extLst>
          </p:cNvPr>
          <p:cNvSpPr txBox="1"/>
          <p:nvPr/>
        </p:nvSpPr>
        <p:spPr>
          <a:xfrm>
            <a:off x="2844800" y="3898900"/>
            <a:ext cx="139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yidaungsu" panose="020B0502040204020203" pitchFamily="34" charset="0"/>
              </a:rPr>
              <a:t>Add to
Cart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7372EB-FB5F-21D4-4D07-096E739E761F}"/>
              </a:ext>
            </a:extLst>
          </p:cNvPr>
          <p:cNvCxnSpPr/>
          <p:nvPr/>
        </p:nvCxnSpPr>
        <p:spPr>
          <a:xfrm>
            <a:off x="6718300" y="3149600"/>
            <a:ext cx="711200" cy="0"/>
          </a:xfrm>
          <a:prstGeom prst="line">
            <a:avLst/>
          </a:prstGeom>
          <a:ln w="27940">
            <a:solidFill>
              <a:srgbClr val="2F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BCE0CFF1-FA96-1325-0BDE-1F1C951D17EA}"/>
              </a:ext>
            </a:extLst>
          </p:cNvPr>
          <p:cNvSpPr/>
          <p:nvPr/>
        </p:nvSpPr>
        <p:spPr>
          <a:xfrm>
            <a:off x="5219700" y="2578100"/>
            <a:ext cx="1143000" cy="1143000"/>
          </a:xfrm>
          <a:prstGeom prst="ellipse">
            <a:avLst/>
          </a:prstGeom>
          <a:solidFill>
            <a:srgbClr val="2F6B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C4CD6-E5C2-82AA-3870-77EEC5718C34}"/>
              </a:ext>
            </a:extLst>
          </p:cNvPr>
          <p:cNvSpPr txBox="1"/>
          <p:nvPr/>
        </p:nvSpPr>
        <p:spPr>
          <a:xfrm>
            <a:off x="5537200" y="28067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8873BC-BDD8-0FE1-D229-E93316BC6DFC}"/>
              </a:ext>
            </a:extLst>
          </p:cNvPr>
          <p:cNvSpPr txBox="1"/>
          <p:nvPr/>
        </p:nvSpPr>
        <p:spPr>
          <a:xfrm>
            <a:off x="5092700" y="3898900"/>
            <a:ext cx="139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yidaungsu" panose="020B0502040204020203" pitchFamily="34" charset="0"/>
              </a:rPr>
              <a:t>Pay &amp;
Submit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5A52E2-F042-6FEB-6A64-F38671DE9B63}"/>
              </a:ext>
            </a:extLst>
          </p:cNvPr>
          <p:cNvCxnSpPr/>
          <p:nvPr/>
        </p:nvCxnSpPr>
        <p:spPr>
          <a:xfrm>
            <a:off x="8966200" y="3149600"/>
            <a:ext cx="711200" cy="0"/>
          </a:xfrm>
          <a:prstGeom prst="line">
            <a:avLst/>
          </a:prstGeom>
          <a:ln w="27940">
            <a:solidFill>
              <a:srgbClr val="2F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D6DEB5-CEC6-32ED-4F03-791670D83B42}"/>
              </a:ext>
            </a:extLst>
          </p:cNvPr>
          <p:cNvSpPr/>
          <p:nvPr/>
        </p:nvSpPr>
        <p:spPr>
          <a:xfrm>
            <a:off x="7467600" y="2578100"/>
            <a:ext cx="1143000" cy="1143000"/>
          </a:xfrm>
          <a:prstGeom prst="ellipse">
            <a:avLst/>
          </a:prstGeom>
          <a:solidFill>
            <a:srgbClr val="2F6B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BD15AF-A709-1824-BFBC-2E6BD461A47F}"/>
              </a:ext>
            </a:extLst>
          </p:cNvPr>
          <p:cNvSpPr txBox="1"/>
          <p:nvPr/>
        </p:nvSpPr>
        <p:spPr>
          <a:xfrm>
            <a:off x="7785100" y="28067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267057-4F53-84DB-BBF0-8A442F11E4B7}"/>
              </a:ext>
            </a:extLst>
          </p:cNvPr>
          <p:cNvSpPr txBox="1"/>
          <p:nvPr/>
        </p:nvSpPr>
        <p:spPr>
          <a:xfrm>
            <a:off x="7340600" y="3898900"/>
            <a:ext cx="139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yidaungsu" panose="020B0502040204020203" pitchFamily="34" charset="0"/>
              </a:rPr>
              <a:t>Canteen
Prepares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65E72D-04A5-F51F-C672-4154B319A011}"/>
              </a:ext>
            </a:extLst>
          </p:cNvPr>
          <p:cNvSpPr/>
          <p:nvPr/>
        </p:nvSpPr>
        <p:spPr>
          <a:xfrm>
            <a:off x="9715500" y="2578100"/>
            <a:ext cx="1143000" cy="1143000"/>
          </a:xfrm>
          <a:prstGeom prst="ellipse">
            <a:avLst/>
          </a:prstGeom>
          <a:solidFill>
            <a:srgbClr val="FF7A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1B7AF0-68E7-EABA-787F-A33B289A267B}"/>
              </a:ext>
            </a:extLst>
          </p:cNvPr>
          <p:cNvSpPr txBox="1"/>
          <p:nvPr/>
        </p:nvSpPr>
        <p:spPr>
          <a:xfrm>
            <a:off x="10033000" y="28067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1853F1-5113-CB6A-9852-8C4AC1026C50}"/>
              </a:ext>
            </a:extLst>
          </p:cNvPr>
          <p:cNvSpPr txBox="1"/>
          <p:nvPr/>
        </p:nvSpPr>
        <p:spPr>
          <a:xfrm>
            <a:off x="9588500" y="3898900"/>
            <a:ext cx="139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yidaungsu" panose="020B0502040204020203" pitchFamily="34" charset="0"/>
              </a:rPr>
              <a:t>Hostel
Delivery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4EF660-BC49-1AFF-072D-540FEA74B763}"/>
              </a:ext>
            </a:extLst>
          </p:cNvPr>
          <p:cNvSpPr/>
          <p:nvPr/>
        </p:nvSpPr>
        <p:spPr>
          <a:xfrm>
            <a:off x="711200" y="5080000"/>
            <a:ext cx="5143500" cy="1041400"/>
          </a:xfrm>
          <a:prstGeom prst="roundRect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0F415F-1209-FD53-6D79-DC1EB4412A9F}"/>
              </a:ext>
            </a:extLst>
          </p:cNvPr>
          <p:cNvSpPr txBox="1"/>
          <p:nvPr/>
        </p:nvSpPr>
        <p:spPr>
          <a:xfrm>
            <a:off x="965200" y="52959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D94FF"/>
                </a:solidFill>
                <a:latin typeface="Aptos" panose="020B0004020202020204" pitchFamily="34" charset="0"/>
              </a:rPr>
              <a:t>CUSTOMER EXPERIENCE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93E6A7-23A3-D3A8-651A-8DAE12C90744}"/>
              </a:ext>
            </a:extLst>
          </p:cNvPr>
          <p:cNvSpPr txBox="1"/>
          <p:nvPr/>
        </p:nvSpPr>
        <p:spPr>
          <a:xfrm>
            <a:off x="965200" y="5638800"/>
            <a:ext cx="431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Menu  |  Cart  |  Payment  |  Live Status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BF76FF-9B48-D7FC-88CC-FD8B48939DE8}"/>
              </a:ext>
            </a:extLst>
          </p:cNvPr>
          <p:cNvSpPr/>
          <p:nvPr/>
        </p:nvSpPr>
        <p:spPr>
          <a:xfrm>
            <a:off x="6146800" y="5080000"/>
            <a:ext cx="5207000" cy="1041400"/>
          </a:xfrm>
          <a:prstGeom prst="roundRect">
            <a:avLst/>
          </a:prstGeom>
          <a:solidFill>
            <a:srgbClr val="102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FE6EBB-AFD1-FD4D-BE4F-46C943A0E002}"/>
              </a:ext>
            </a:extLst>
          </p:cNvPr>
          <p:cNvSpPr txBox="1"/>
          <p:nvPr/>
        </p:nvSpPr>
        <p:spPr>
          <a:xfrm>
            <a:off x="6400800" y="52959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B47C"/>
                </a:solidFill>
                <a:latin typeface="Aptos" panose="020B0004020202020204" pitchFamily="34" charset="0"/>
              </a:rPr>
              <a:t>CANTEEN CONTROL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098C26-BDE7-D795-D5EA-451FE3909C5B}"/>
              </a:ext>
            </a:extLst>
          </p:cNvPr>
          <p:cNvSpPr txBox="1"/>
          <p:nvPr/>
        </p:nvSpPr>
        <p:spPr>
          <a:xfrm>
            <a:off x="6400800" y="5638800"/>
            <a:ext cx="444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Menu  |  Orders  |  Status  |  Delivery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F2B74E-109E-72C1-7374-901B3835C4AA}"/>
              </a:ext>
            </a:extLst>
          </p:cNvPr>
          <p:cNvSpPr txBox="1"/>
          <p:nvPr/>
        </p:nvSpPr>
        <p:spPr>
          <a:xfrm>
            <a:off x="11303000" y="6388100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 b="1">
                <a:solidFill>
                  <a:srgbClr val="9DB4D4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5140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8E519F-121E-B6EB-A9AC-2884F7288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1B6BC7-561D-1A6F-57D8-A8C15A45AB97}"/>
              </a:ext>
            </a:extLst>
          </p:cNvPr>
          <p:cNvSpPr/>
          <p:nvPr/>
        </p:nvSpPr>
        <p:spPr>
          <a:xfrm>
            <a:off x="711200" y="533400"/>
            <a:ext cx="1498600" cy="317500"/>
          </a:xfrm>
          <a:prstGeom prst="roundRect">
            <a:avLst/>
          </a:prstGeom>
          <a:solidFill>
            <a:srgbClr val="EA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0B413-DD10-2C72-421A-E56204A08AE4}"/>
              </a:ext>
            </a:extLst>
          </p:cNvPr>
          <p:cNvSpPr txBox="1"/>
          <p:nvPr/>
        </p:nvSpPr>
        <p:spPr>
          <a:xfrm>
            <a:off x="812800" y="571500"/>
            <a:ext cx="129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2F6BFF"/>
                </a:solidFill>
                <a:latin typeface="Pyidaungsu" panose="020B0502040204020203" pitchFamily="34" charset="0"/>
              </a:rPr>
              <a:t>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B921F-6002-2237-B502-1AE8AA5CCD24}"/>
              </a:ext>
            </a:extLst>
          </p:cNvPr>
          <p:cNvSpPr txBox="1"/>
          <p:nvPr/>
        </p:nvSpPr>
        <p:spPr>
          <a:xfrm>
            <a:off x="711200" y="1092200"/>
            <a:ext cx="8890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7233A"/>
                </a:solidFill>
                <a:latin typeface="Aptos Display" panose="020B0004020202020204" pitchFamily="34" charset="0"/>
              </a:rPr>
              <a:t>Built with a simple, scalable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7B837-3599-4166-1996-4E6E7B0FB80B}"/>
              </a:ext>
            </a:extLst>
          </p:cNvPr>
          <p:cNvSpPr txBox="1"/>
          <p:nvPr/>
        </p:nvSpPr>
        <p:spPr>
          <a:xfrm>
            <a:off x="711200" y="1739900"/>
            <a:ext cx="787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667085"/>
                </a:solidFill>
                <a:latin typeface="Aptos" panose="020B0004020202020204" pitchFamily="34" charset="0"/>
              </a:rPr>
              <a:t>A fast, secure architecture from browser to database.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91D70E-0F73-CB31-E078-9D635C4C5659}"/>
              </a:ext>
            </a:extLst>
          </p:cNvPr>
          <p:cNvSpPr/>
          <p:nvPr/>
        </p:nvSpPr>
        <p:spPr>
          <a:xfrm>
            <a:off x="711200" y="25908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232B1E-E1A8-049A-6C51-28B29EF7CA8C}"/>
              </a:ext>
            </a:extLst>
          </p:cNvPr>
          <p:cNvSpPr/>
          <p:nvPr/>
        </p:nvSpPr>
        <p:spPr>
          <a:xfrm>
            <a:off x="711200" y="2590800"/>
            <a:ext cx="3175000" cy="101600"/>
          </a:xfrm>
          <a:prstGeom prst="roundRect">
            <a:avLst/>
          </a:prstGeom>
          <a:solidFill>
            <a:srgbClr val="2F6B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0494BA-C14C-9BF2-003B-491934B49298}"/>
              </a:ext>
            </a:extLst>
          </p:cNvPr>
          <p:cNvSpPr/>
          <p:nvPr/>
        </p:nvSpPr>
        <p:spPr>
          <a:xfrm>
            <a:off x="990600" y="2921000"/>
            <a:ext cx="558800" cy="558800"/>
          </a:xfrm>
          <a:prstGeom prst="ellipse">
            <a:avLst/>
          </a:prstGeom>
          <a:solidFill>
            <a:srgbClr val="EA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290B1-5AC5-A2F5-AC36-2F843D1F19EF}"/>
              </a:ext>
            </a:extLst>
          </p:cNvPr>
          <p:cNvSpPr txBox="1"/>
          <p:nvPr/>
        </p:nvSpPr>
        <p:spPr>
          <a:xfrm>
            <a:off x="1104900" y="3073400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2F6B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FAA8E1-BF5A-F1AC-F2D3-3351249ABF67}"/>
              </a:ext>
            </a:extLst>
          </p:cNvPr>
          <p:cNvSpPr txBox="1"/>
          <p:nvPr/>
        </p:nvSpPr>
        <p:spPr>
          <a:xfrm>
            <a:off x="1727200" y="2921000"/>
            <a:ext cx="184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667085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1C08D-EF0F-987A-AA0D-09BA1EA1D5CE}"/>
              </a:ext>
            </a:extLst>
          </p:cNvPr>
          <p:cNvSpPr txBox="1"/>
          <p:nvPr/>
        </p:nvSpPr>
        <p:spPr>
          <a:xfrm>
            <a:off x="990600" y="3556000"/>
            <a:ext cx="2603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33A"/>
                </a:solidFill>
                <a:latin typeface="Aptos Display" panose="020B0004020202020204" pitchFamily="34" charset="0"/>
              </a:rPr>
              <a:t>HTML | CSS | 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1A6B7-9866-75EF-B496-BA2E2193CA88}"/>
              </a:ext>
            </a:extLst>
          </p:cNvPr>
          <p:cNvSpPr txBox="1"/>
          <p:nvPr/>
        </p:nvSpPr>
        <p:spPr>
          <a:xfrm>
            <a:off x="990600" y="40386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67085"/>
                </a:solidFill>
                <a:latin typeface="Pyidaungsu" panose="020B0502040204020203" pitchFamily="34" charset="0"/>
              </a:rPr>
              <a:t>Bootstrap 5
Responsive web experience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B745F3-0C4E-5E94-DAF4-77DA32751B7F}"/>
              </a:ext>
            </a:extLst>
          </p:cNvPr>
          <p:cNvCxnSpPr/>
          <p:nvPr/>
        </p:nvCxnSpPr>
        <p:spPr>
          <a:xfrm>
            <a:off x="3962400" y="3721100"/>
            <a:ext cx="469900" cy="0"/>
          </a:xfrm>
          <a:prstGeom prst="line">
            <a:avLst/>
          </a:prstGeom>
          <a:ln w="25400">
            <a:solidFill>
              <a:srgbClr val="2F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7BBC9C-ECA8-48DC-80CE-09CFC13735A8}"/>
              </a:ext>
            </a:extLst>
          </p:cNvPr>
          <p:cNvSpPr/>
          <p:nvPr/>
        </p:nvSpPr>
        <p:spPr>
          <a:xfrm>
            <a:off x="4508500" y="25908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95533B-AD0B-C441-6F7A-CDE6B84268F5}"/>
              </a:ext>
            </a:extLst>
          </p:cNvPr>
          <p:cNvSpPr/>
          <p:nvPr/>
        </p:nvSpPr>
        <p:spPr>
          <a:xfrm>
            <a:off x="4508500" y="2590800"/>
            <a:ext cx="3175000" cy="101600"/>
          </a:xfrm>
          <a:prstGeom prst="roundRect">
            <a:avLst/>
          </a:prstGeom>
          <a:solidFill>
            <a:srgbClr val="FF7A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030E71-104A-728B-3294-33D75E77F245}"/>
              </a:ext>
            </a:extLst>
          </p:cNvPr>
          <p:cNvSpPr/>
          <p:nvPr/>
        </p:nvSpPr>
        <p:spPr>
          <a:xfrm>
            <a:off x="4787900" y="2921000"/>
            <a:ext cx="558800" cy="558800"/>
          </a:xfrm>
          <a:prstGeom prst="ellipse">
            <a:avLst/>
          </a:prstGeom>
          <a:solidFill>
            <a:srgbClr val="FFF0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7002F6-B401-DCFC-6855-B608EE3ADB8D}"/>
              </a:ext>
            </a:extLst>
          </p:cNvPr>
          <p:cNvSpPr txBox="1"/>
          <p:nvPr/>
        </p:nvSpPr>
        <p:spPr>
          <a:xfrm>
            <a:off x="4902200" y="3073400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7A1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BBB32A-B19C-B3F1-1270-448067033868}"/>
              </a:ext>
            </a:extLst>
          </p:cNvPr>
          <p:cNvSpPr txBox="1"/>
          <p:nvPr/>
        </p:nvSpPr>
        <p:spPr>
          <a:xfrm>
            <a:off x="5524500" y="2921000"/>
            <a:ext cx="184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667085"/>
                </a:solidFill>
                <a:latin typeface="Aptos" panose="020B0004020202020204" pitchFamily="34" charset="0"/>
              </a:rPr>
              <a:t>DELIVERY LAYER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A721E1-24AE-FAD8-21C1-C97762E05FC6}"/>
              </a:ext>
            </a:extLst>
          </p:cNvPr>
          <p:cNvSpPr txBox="1"/>
          <p:nvPr/>
        </p:nvSpPr>
        <p:spPr>
          <a:xfrm>
            <a:off x="4787900" y="3556000"/>
            <a:ext cx="2603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33A"/>
                </a:solidFill>
                <a:latin typeface="Aptos Display" panose="020B0004020202020204" pitchFamily="34" charset="0"/>
              </a:rPr>
              <a:t>Vercel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6D167-D881-57A5-C337-AFA900E2C07F}"/>
              </a:ext>
            </a:extLst>
          </p:cNvPr>
          <p:cNvSpPr txBox="1"/>
          <p:nvPr/>
        </p:nvSpPr>
        <p:spPr>
          <a:xfrm>
            <a:off x="4787900" y="40386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67085"/>
                </a:solidFill>
                <a:latin typeface="Pyidaungsu" panose="020B0502040204020203" pitchFamily="34" charset="0"/>
              </a:rPr>
              <a:t>Hosting | Runtime config
Supabase proxy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C43AD6-C670-2E14-A855-5BA28565AA0E}"/>
              </a:ext>
            </a:extLst>
          </p:cNvPr>
          <p:cNvCxnSpPr/>
          <p:nvPr/>
        </p:nvCxnSpPr>
        <p:spPr>
          <a:xfrm>
            <a:off x="7759700" y="3721100"/>
            <a:ext cx="469900" cy="0"/>
          </a:xfrm>
          <a:prstGeom prst="line">
            <a:avLst/>
          </a:prstGeom>
          <a:ln w="25400">
            <a:solidFill>
              <a:srgbClr val="2F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2048C2-47AF-A58F-CAB1-62F78B4419ED}"/>
              </a:ext>
            </a:extLst>
          </p:cNvPr>
          <p:cNvSpPr/>
          <p:nvPr/>
        </p:nvSpPr>
        <p:spPr>
          <a:xfrm>
            <a:off x="8305800" y="25908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1178E91-4D7B-CF15-7CDE-5E2C6A2D3432}"/>
              </a:ext>
            </a:extLst>
          </p:cNvPr>
          <p:cNvSpPr/>
          <p:nvPr/>
        </p:nvSpPr>
        <p:spPr>
          <a:xfrm>
            <a:off x="8305800" y="2590800"/>
            <a:ext cx="3175000" cy="101600"/>
          </a:xfrm>
          <a:prstGeom prst="roundRect">
            <a:avLst/>
          </a:prstGeom>
          <a:solidFill>
            <a:srgbClr val="20A6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49B05CF-BDFE-3313-8B7E-C64D618C188A}"/>
              </a:ext>
            </a:extLst>
          </p:cNvPr>
          <p:cNvSpPr/>
          <p:nvPr/>
        </p:nvSpPr>
        <p:spPr>
          <a:xfrm>
            <a:off x="8585200" y="2921000"/>
            <a:ext cx="558800" cy="558800"/>
          </a:xfrm>
          <a:prstGeom prst="ellipse">
            <a:avLst/>
          </a:prstGeom>
          <a:solidFill>
            <a:srgbClr val="E9F8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BD0E70-135F-C3C9-1B24-C56FF15C1983}"/>
              </a:ext>
            </a:extLst>
          </p:cNvPr>
          <p:cNvSpPr txBox="1"/>
          <p:nvPr/>
        </p:nvSpPr>
        <p:spPr>
          <a:xfrm>
            <a:off x="8699500" y="3073400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20A66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1B7340-A360-442C-59A7-540D1F4CE2B2}"/>
              </a:ext>
            </a:extLst>
          </p:cNvPr>
          <p:cNvSpPr txBox="1"/>
          <p:nvPr/>
        </p:nvSpPr>
        <p:spPr>
          <a:xfrm>
            <a:off x="9321800" y="2921000"/>
            <a:ext cx="184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667085"/>
                </a:solidFill>
                <a:latin typeface="Aptos" panose="020B0004020202020204" pitchFamily="34" charset="0"/>
              </a:rPr>
              <a:t>BACKEND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A45CCE-78E1-B38F-284E-29DCF2364D88}"/>
              </a:ext>
            </a:extLst>
          </p:cNvPr>
          <p:cNvSpPr txBox="1"/>
          <p:nvPr/>
        </p:nvSpPr>
        <p:spPr>
          <a:xfrm>
            <a:off x="8585200" y="3556000"/>
            <a:ext cx="2603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33A"/>
                </a:solidFill>
                <a:latin typeface="Aptos Display" panose="020B0004020202020204" pitchFamily="34" charset="0"/>
              </a:rPr>
              <a:t>Supabase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67674E-74ED-B0CE-A415-EA0D0DD57A2A}"/>
              </a:ext>
            </a:extLst>
          </p:cNvPr>
          <p:cNvSpPr txBox="1"/>
          <p:nvPr/>
        </p:nvSpPr>
        <p:spPr>
          <a:xfrm>
            <a:off x="8585200" y="40386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67085"/>
                </a:solidFill>
                <a:latin typeface="Pyidaungsu" panose="020B0502040204020203" pitchFamily="34" charset="0"/>
              </a:rPr>
              <a:t>Auth | PostgreSQL
Storage | Realtime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0360A2A-BB5B-AF3B-BAA6-5E5650BB8425}"/>
              </a:ext>
            </a:extLst>
          </p:cNvPr>
          <p:cNvSpPr/>
          <p:nvPr/>
        </p:nvSpPr>
        <p:spPr>
          <a:xfrm>
            <a:off x="711200" y="5397500"/>
            <a:ext cx="10642600" cy="889000"/>
          </a:xfrm>
          <a:prstGeom prst="roundRect">
            <a:avLst/>
          </a:prstGeom>
          <a:solidFill>
            <a:srgbClr val="081B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CC834D-2625-6E92-5B44-36E0AB1FC98B}"/>
              </a:ext>
            </a:extLst>
          </p:cNvPr>
          <p:cNvSpPr txBox="1"/>
          <p:nvPr/>
        </p:nvSpPr>
        <p:spPr>
          <a:xfrm>
            <a:off x="1016000" y="56261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AFC3DF"/>
                </a:solidFill>
                <a:latin typeface="Aptos" panose="020B0004020202020204" pitchFamily="34" charset="0"/>
              </a:rPr>
              <a:t>Slides explain the idea.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126C39-88CB-3977-A93D-7EF1396BF372}"/>
              </a:ext>
            </a:extLst>
          </p:cNvPr>
          <p:cNvSpPr txBox="1"/>
          <p:nvPr/>
        </p:nvSpPr>
        <p:spPr>
          <a:xfrm>
            <a:off x="6858000" y="5562600"/>
            <a:ext cx="406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2200" b="1">
                <a:solidFill>
                  <a:srgbClr val="FFFFFF"/>
                </a:solidFill>
                <a:latin typeface="Aptos Display" panose="020B0004020202020204" pitchFamily="34" charset="0"/>
              </a:rPr>
              <a:t>Now, let's see it live.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639D49-C685-B401-A836-56FD747E7832}"/>
              </a:ext>
            </a:extLst>
          </p:cNvPr>
          <p:cNvSpPr txBox="1"/>
          <p:nvPr/>
        </p:nvSpPr>
        <p:spPr>
          <a:xfrm>
            <a:off x="9448800" y="5994400"/>
            <a:ext cx="1473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FF7A1A"/>
                </a:solidFill>
                <a:latin typeface="Aptos" panose="020B0004020202020204" pitchFamily="34" charset="0"/>
              </a:rPr>
              <a:t>DEMO  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068F66-CABE-6259-70DD-6BBBBDA2CF73}"/>
              </a:ext>
            </a:extLst>
          </p:cNvPr>
          <p:cNvSpPr txBox="1"/>
          <p:nvPr/>
        </p:nvSpPr>
        <p:spPr>
          <a:xfrm>
            <a:off x="11303000" y="6388100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 b="1">
                <a:solidFill>
                  <a:srgbClr val="667085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16550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Custom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Pyidaungsu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 Myo Kyaw</dc:creator>
  <cp:lastModifiedBy>Yan Myo Kyaw</cp:lastModifiedBy>
  <cp:revision>1</cp:revision>
  <dcterms:created xsi:type="dcterms:W3CDTF">2026-08-21T17:58:27Z</dcterms:created>
  <dcterms:modified xsi:type="dcterms:W3CDTF">2026-08-21T17:58:27Z</dcterms:modified>
</cp:coreProperties>
</file>